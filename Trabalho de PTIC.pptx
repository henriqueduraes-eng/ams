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pt-BR"/>
              <a:t>Clique para editar o título Mestre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CAEBB56C-38BD-4E28-B01F-CD0BDECD3355}" type="datetimeFigureOut">
              <a:rPr lang="pt-BR" smtClean="0"/>
              <a:t>26/03/2026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886121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CAEBB56C-38BD-4E28-B01F-CD0BDECD3355}" type="datetimeFigureOut">
              <a:rPr lang="pt-BR" smtClean="0"/>
              <a:t>26/03/2026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4082283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AEBB56C-38BD-4E28-B01F-CD0BDECD3355}" type="datetimeFigureOut">
              <a:rPr lang="pt-BR" smtClean="0"/>
              <a:t>26/03/2026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446814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CAEBB56C-38BD-4E28-B01F-CD0BDECD3355}" type="datetimeFigureOut">
              <a:rPr lang="pt-BR" smtClean="0"/>
              <a:t>26/03/2026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238569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CAEBB56C-38BD-4E28-B01F-CD0BDECD3355}" type="datetimeFigureOut">
              <a:rPr lang="pt-BR" smtClean="0"/>
              <a:t>26/03/2026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2016608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CAEBB56C-38BD-4E28-B01F-CD0BDECD3355}" type="datetimeFigureOut">
              <a:rPr lang="pt-BR" smtClean="0"/>
              <a:t>26/03/2026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3186667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EBB56C-38BD-4E28-B01F-CD0BDECD3355}" type="datetimeFigureOut">
              <a:rPr lang="pt-BR" smtClean="0"/>
              <a:t>26/03/2026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2386666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pt-BR"/>
              <a:t>Clique para editar o título Mestre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CAEBB56C-38BD-4E28-B01F-CD0BDECD3355}" type="datetimeFigureOut">
              <a:rPr lang="pt-BR" smtClean="0"/>
              <a:t>26/03/2026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3054744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CAEBB56C-38BD-4E28-B01F-CD0BDECD3355}" type="datetimeFigureOut">
              <a:rPr lang="pt-BR" smtClean="0"/>
              <a:t>26/03/2026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970797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AEBB56C-38BD-4E28-B01F-CD0BDECD3355}" type="datetimeFigureOut">
              <a:rPr lang="pt-BR" smtClean="0"/>
              <a:t>26/03/2026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1672436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AEBB56C-38BD-4E28-B01F-CD0BDECD3355}" type="datetimeFigureOut">
              <a:rPr lang="pt-BR" smtClean="0"/>
              <a:t>26/03/2026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26678B7-FE5D-4D57-A036-E8916A768B9C}" type="slidenum">
              <a:rPr lang="pt-BR" smtClean="0"/>
              <a:t>‹nº›</a:t>
            </a:fld>
            <a:endParaRPr lang="pt-B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44605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AEBB56C-38BD-4E28-B01F-CD0BDECD3355}" type="datetimeFigureOut">
              <a:rPr lang="pt-BR" smtClean="0"/>
              <a:t>26/03/2026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3856473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AEBB56C-38BD-4E28-B01F-CD0BDECD3355}" type="datetimeFigureOut">
              <a:rPr lang="pt-BR" smtClean="0"/>
              <a:t>26/03/2026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26678B7-FE5D-4D57-A036-E8916A768B9C}" type="slidenum">
              <a:rPr lang="pt-BR" smtClean="0"/>
              <a:t>‹nº›</a:t>
            </a:fld>
            <a:endParaRPr lang="pt-B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44445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AEBB56C-38BD-4E28-B01F-CD0BDECD3355}" type="datetimeFigureOut">
              <a:rPr lang="pt-BR" smtClean="0"/>
              <a:t>26/03/2026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4184366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CAEBB56C-38BD-4E28-B01F-CD0BDECD3355}" type="datetimeFigureOut">
              <a:rPr lang="pt-BR" smtClean="0"/>
              <a:t>26/03/2026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4345111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pt-BR"/>
              <a:t>Clique para editar o título Mestre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CAEBB56C-38BD-4E28-B01F-CD0BDECD3355}" type="datetimeFigureOut">
              <a:rPr lang="pt-BR" smtClean="0"/>
              <a:t>26/03/2026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26678B7-FE5D-4D57-A036-E8916A768B9C}" type="slidenum">
              <a:rPr lang="pt-BR" smtClean="0"/>
              <a:t>‹nº›</a:t>
            </a:fld>
            <a:endParaRPr lang="pt-BR"/>
          </a:p>
        </p:txBody>
      </p:sp>
    </p:spTree>
    <p:extLst>
      <p:ext uri="{BB962C8B-B14F-4D97-AF65-F5344CB8AC3E}">
        <p14:creationId xmlns:p14="http://schemas.microsoft.com/office/powerpoint/2010/main" val="3450245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AEBB56C-38BD-4E28-B01F-CD0BDECD3355}" type="datetimeFigureOut">
              <a:rPr lang="pt-BR" smtClean="0"/>
              <a:t>26/03/2026</a:t>
            </a:fld>
            <a:endParaRPr lang="pt-B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26678B7-FE5D-4D57-A036-E8916A768B9C}" type="slidenum">
              <a:rPr lang="pt-BR" smtClean="0"/>
              <a:t>‹nº›</a:t>
            </a:fld>
            <a:endParaRPr lang="pt-BR"/>
          </a:p>
        </p:txBody>
      </p:sp>
    </p:spTree>
    <p:extLst>
      <p:ext uri="{BB962C8B-B14F-4D97-AF65-F5344CB8AC3E}">
        <p14:creationId xmlns:p14="http://schemas.microsoft.com/office/powerpoint/2010/main" val="1442742693"/>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DFAF24-EBF5-43D9-AFC2-A7D2D5C3F723}"/>
              </a:ext>
            </a:extLst>
          </p:cNvPr>
          <p:cNvSpPr>
            <a:spLocks noGrp="1"/>
          </p:cNvSpPr>
          <p:nvPr>
            <p:ph type="ctrTitle"/>
          </p:nvPr>
        </p:nvSpPr>
        <p:spPr>
          <a:xfrm>
            <a:off x="1124294" y="1043568"/>
            <a:ext cx="7766936" cy="1646302"/>
          </a:xfrm>
        </p:spPr>
        <p:txBody>
          <a:bodyPr/>
          <a:lstStyle/>
          <a:p>
            <a:r>
              <a:rPr lang="pt-BR" dirty="0">
                <a:latin typeface="Algerian" panose="04020705040A02060702" pitchFamily="82" charset="0"/>
              </a:rPr>
              <a:t>Trabalho de PTIC</a:t>
            </a:r>
          </a:p>
        </p:txBody>
      </p:sp>
      <p:sp>
        <p:nvSpPr>
          <p:cNvPr id="3" name="Subtítulo 2">
            <a:extLst>
              <a:ext uri="{FF2B5EF4-FFF2-40B4-BE49-F238E27FC236}">
                <a16:creationId xmlns:a16="http://schemas.microsoft.com/office/drawing/2014/main" id="{E516E534-3B3A-457D-8179-E7836964804B}"/>
              </a:ext>
            </a:extLst>
          </p:cNvPr>
          <p:cNvSpPr>
            <a:spLocks noGrp="1"/>
          </p:cNvSpPr>
          <p:nvPr>
            <p:ph type="subTitle" idx="1"/>
          </p:nvPr>
        </p:nvSpPr>
        <p:spPr>
          <a:xfrm>
            <a:off x="467831" y="4976038"/>
            <a:ext cx="3404831" cy="756485"/>
          </a:xfrm>
        </p:spPr>
        <p:txBody>
          <a:bodyPr/>
          <a:lstStyle/>
          <a:p>
            <a:r>
              <a:rPr lang="pt-BR" dirty="0"/>
              <a:t>Feito por: Henrique Mattos</a:t>
            </a:r>
          </a:p>
        </p:txBody>
      </p:sp>
    </p:spTree>
    <p:extLst>
      <p:ext uri="{BB962C8B-B14F-4D97-AF65-F5344CB8AC3E}">
        <p14:creationId xmlns:p14="http://schemas.microsoft.com/office/powerpoint/2010/main" val="1404263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6781EA-67C5-4E39-96CF-7F4721DC31FC}"/>
              </a:ext>
            </a:extLst>
          </p:cNvPr>
          <p:cNvSpPr>
            <a:spLocks noGrp="1"/>
          </p:cNvSpPr>
          <p:nvPr>
            <p:ph type="title"/>
          </p:nvPr>
        </p:nvSpPr>
        <p:spPr>
          <a:xfrm>
            <a:off x="265078" y="1587284"/>
            <a:ext cx="9008925" cy="1486536"/>
          </a:xfrm>
        </p:spPr>
        <p:txBody>
          <a:bodyPr/>
          <a:lstStyle/>
          <a:p>
            <a:r>
              <a:rPr lang="pt-BR" b="1" i="0" dirty="0">
                <a:solidFill>
                  <a:schemeClr val="accent2">
                    <a:lumMod val="75000"/>
                  </a:schemeClr>
                </a:solidFill>
                <a:effectLst/>
                <a:latin typeface="Roboto" panose="02000000000000000000" pitchFamily="2" charset="0"/>
              </a:rPr>
              <a:t>Estatuto da Criança e do Adolescente (ECA Digital)</a:t>
            </a:r>
            <a:endParaRPr lang="pt-BR" dirty="0">
              <a:solidFill>
                <a:schemeClr val="accent2">
                  <a:lumMod val="75000"/>
                </a:schemeClr>
              </a:solidFill>
            </a:endParaRPr>
          </a:p>
        </p:txBody>
      </p:sp>
      <p:sp>
        <p:nvSpPr>
          <p:cNvPr id="3" name="Espaço Reservado para Texto 2">
            <a:extLst>
              <a:ext uri="{FF2B5EF4-FFF2-40B4-BE49-F238E27FC236}">
                <a16:creationId xmlns:a16="http://schemas.microsoft.com/office/drawing/2014/main" id="{8FF31599-F12C-4C9D-8291-D0733D988FE6}"/>
              </a:ext>
            </a:extLst>
          </p:cNvPr>
          <p:cNvSpPr>
            <a:spLocks noGrp="1"/>
          </p:cNvSpPr>
          <p:nvPr>
            <p:ph type="body" idx="1"/>
          </p:nvPr>
        </p:nvSpPr>
        <p:spPr/>
        <p:txBody>
          <a:bodyPr/>
          <a:lstStyle/>
          <a:p>
            <a:br>
              <a:rPr lang="pt-BR" b="0" i="0" dirty="0">
                <a:effectLst/>
                <a:latin typeface="Roboto" panose="020B0604020202020204" pitchFamily="2" charset="0"/>
              </a:rPr>
            </a:br>
            <a:r>
              <a:rPr lang="pt-BR" b="0" i="0" dirty="0">
                <a:effectLst/>
                <a:latin typeface="Roboto" panose="020B0604020202020204" pitchFamily="2" charset="0"/>
              </a:rPr>
              <a:t>Lei nº 15.211/2025, que se deu início em 17 de março de 2026</a:t>
            </a:r>
            <a:endParaRPr lang="pt-BR" dirty="0"/>
          </a:p>
        </p:txBody>
      </p:sp>
    </p:spTree>
    <p:extLst>
      <p:ext uri="{BB962C8B-B14F-4D97-AF65-F5344CB8AC3E}">
        <p14:creationId xmlns:p14="http://schemas.microsoft.com/office/powerpoint/2010/main" val="1606651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63C351-46DA-4F5E-9F8D-A7EF3DFB432D}"/>
              </a:ext>
            </a:extLst>
          </p:cNvPr>
          <p:cNvSpPr>
            <a:spLocks noGrp="1"/>
          </p:cNvSpPr>
          <p:nvPr>
            <p:ph type="title"/>
          </p:nvPr>
        </p:nvSpPr>
        <p:spPr>
          <a:xfrm>
            <a:off x="677334" y="1041404"/>
            <a:ext cx="3854528" cy="1278466"/>
          </a:xfrm>
        </p:spPr>
        <p:txBody>
          <a:bodyPr/>
          <a:lstStyle/>
          <a:p>
            <a:r>
              <a:rPr lang="pt-BR" dirty="0">
                <a:latin typeface="Artifakt Element Heavy" panose="020B0B03050000020004" pitchFamily="34" charset="0"/>
                <a:ea typeface="Artifakt Element Heavy" panose="020B0B03050000020004" pitchFamily="34" charset="0"/>
              </a:rPr>
              <a:t>Também conhecida como Lei </a:t>
            </a:r>
            <a:r>
              <a:rPr lang="pt-BR" dirty="0" err="1">
                <a:latin typeface="Artifakt Element Heavy" panose="020B0B03050000020004" pitchFamily="34" charset="0"/>
                <a:ea typeface="Artifakt Element Heavy" panose="020B0B03050000020004" pitchFamily="34" charset="0"/>
              </a:rPr>
              <a:t>Felca</a:t>
            </a:r>
            <a:endParaRPr lang="pt-BR" dirty="0">
              <a:latin typeface="Artifakt Element Heavy" panose="020B0B03050000020004" pitchFamily="34" charset="0"/>
              <a:ea typeface="Artifakt Element Heavy" panose="020B0B03050000020004" pitchFamily="34" charset="0"/>
            </a:endParaRPr>
          </a:p>
        </p:txBody>
      </p:sp>
      <p:pic>
        <p:nvPicPr>
          <p:cNvPr id="12" name="Espaço Reservado para Conteúdo 11">
            <a:extLst>
              <a:ext uri="{FF2B5EF4-FFF2-40B4-BE49-F238E27FC236}">
                <a16:creationId xmlns:a16="http://schemas.microsoft.com/office/drawing/2014/main" id="{D77F2C00-D109-4F4E-A0C8-A54217566C58}"/>
              </a:ext>
            </a:extLst>
          </p:cNvPr>
          <p:cNvPicPr>
            <a:picLocks noGrp="1" noChangeAspect="1"/>
          </p:cNvPicPr>
          <p:nvPr>
            <p:ph idx="1"/>
          </p:nvPr>
        </p:nvPicPr>
        <p:blipFill>
          <a:blip r:embed="rId2"/>
          <a:stretch>
            <a:fillRect/>
          </a:stretch>
        </p:blipFill>
        <p:spPr>
          <a:xfrm>
            <a:off x="4976756" y="932378"/>
            <a:ext cx="4433055" cy="4585919"/>
          </a:xfrm>
          <a:prstGeom prst="rect">
            <a:avLst/>
          </a:prstGeom>
        </p:spPr>
      </p:pic>
      <p:sp>
        <p:nvSpPr>
          <p:cNvPr id="4" name="Espaço Reservado para Texto 3">
            <a:extLst>
              <a:ext uri="{FF2B5EF4-FFF2-40B4-BE49-F238E27FC236}">
                <a16:creationId xmlns:a16="http://schemas.microsoft.com/office/drawing/2014/main" id="{A31A97BD-DA9F-42C5-8523-065A1D89100E}"/>
              </a:ext>
            </a:extLst>
          </p:cNvPr>
          <p:cNvSpPr>
            <a:spLocks noGrp="1"/>
          </p:cNvSpPr>
          <p:nvPr>
            <p:ph type="body" sz="half" idx="2"/>
          </p:nvPr>
        </p:nvSpPr>
        <p:spPr/>
        <p:txBody>
          <a:bodyPr/>
          <a:lstStyle/>
          <a:p>
            <a:r>
              <a:rPr lang="pt-BR" dirty="0"/>
              <a:t>Ela tem como objetivo ajudar os menores de 18 anos a não serem expostos para conteúdos que não são para a sua faixa etária apropriada, como alvo as “</a:t>
            </a:r>
            <a:r>
              <a:rPr lang="pt-BR" dirty="0" err="1"/>
              <a:t>loot</a:t>
            </a:r>
            <a:r>
              <a:rPr lang="pt-BR" dirty="0"/>
              <a:t> box” dos jogos </a:t>
            </a:r>
            <a:r>
              <a:rPr lang="pt-BR" dirty="0" err="1"/>
              <a:t>onlines</a:t>
            </a:r>
            <a:r>
              <a:rPr lang="pt-BR" dirty="0"/>
              <a:t> que estão sendo associadas como um jogo de azar.</a:t>
            </a:r>
          </a:p>
        </p:txBody>
      </p:sp>
    </p:spTree>
    <p:extLst>
      <p:ext uri="{BB962C8B-B14F-4D97-AF65-F5344CB8AC3E}">
        <p14:creationId xmlns:p14="http://schemas.microsoft.com/office/powerpoint/2010/main" val="517024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CD7F5F-A813-4ABA-AD5A-5B7C64ABA8B0}"/>
              </a:ext>
            </a:extLst>
          </p:cNvPr>
          <p:cNvSpPr>
            <a:spLocks noGrp="1"/>
          </p:cNvSpPr>
          <p:nvPr>
            <p:ph type="title"/>
          </p:nvPr>
        </p:nvSpPr>
        <p:spPr>
          <a:xfrm>
            <a:off x="677334" y="1158948"/>
            <a:ext cx="3118489" cy="1118391"/>
          </a:xfrm>
        </p:spPr>
        <p:txBody>
          <a:bodyPr/>
          <a:lstStyle/>
          <a:p>
            <a:r>
              <a:rPr lang="pt-BR" dirty="0">
                <a:latin typeface="Arial Rounded MT Bold" panose="020F0704030504030204" pitchFamily="34" charset="0"/>
              </a:rPr>
              <a:t>Mas essa Lei ajudou realmente a população menor de 18 anos?</a:t>
            </a:r>
          </a:p>
        </p:txBody>
      </p:sp>
      <p:sp>
        <p:nvSpPr>
          <p:cNvPr id="4" name="Espaço Reservado para Texto 3">
            <a:extLst>
              <a:ext uri="{FF2B5EF4-FFF2-40B4-BE49-F238E27FC236}">
                <a16:creationId xmlns:a16="http://schemas.microsoft.com/office/drawing/2014/main" id="{FCF5AEA0-B161-49FD-B08F-50F03CB2764B}"/>
              </a:ext>
            </a:extLst>
          </p:cNvPr>
          <p:cNvSpPr>
            <a:spLocks noGrp="1"/>
          </p:cNvSpPr>
          <p:nvPr>
            <p:ph type="body" sz="half" idx="2"/>
          </p:nvPr>
        </p:nvSpPr>
        <p:spPr/>
        <p:txBody>
          <a:bodyPr/>
          <a:lstStyle/>
          <a:p>
            <a:r>
              <a:rPr lang="pt-BR" dirty="0"/>
              <a:t>De certa forma sim, alguns sites para maiores de 18 anos agora precisam de alguma prova que você é maior de idade para acessar esse site, e muitos cassinos que não faziam uma verificação concreta agora são obrigados a fazerem essa verificação.</a:t>
            </a:r>
          </a:p>
        </p:txBody>
      </p:sp>
      <p:pic>
        <p:nvPicPr>
          <p:cNvPr id="10" name="Espaço Reservado para Conteúdo 9">
            <a:extLst>
              <a:ext uri="{FF2B5EF4-FFF2-40B4-BE49-F238E27FC236}">
                <a16:creationId xmlns:a16="http://schemas.microsoft.com/office/drawing/2014/main" id="{32981965-7FCC-47F2-9BA3-AC463F12670C}"/>
              </a:ext>
            </a:extLst>
          </p:cNvPr>
          <p:cNvPicPr>
            <a:picLocks noGrp="1" noChangeAspect="1"/>
          </p:cNvPicPr>
          <p:nvPr>
            <p:ph idx="1"/>
          </p:nvPr>
        </p:nvPicPr>
        <p:blipFill>
          <a:blip r:embed="rId2"/>
          <a:stretch>
            <a:fillRect/>
          </a:stretch>
        </p:blipFill>
        <p:spPr>
          <a:xfrm>
            <a:off x="5964865" y="1"/>
            <a:ext cx="6227135" cy="6858000"/>
          </a:xfrm>
          <a:prstGeom prst="rect">
            <a:avLst/>
          </a:prstGeom>
        </p:spPr>
      </p:pic>
    </p:spTree>
    <p:extLst>
      <p:ext uri="{BB962C8B-B14F-4D97-AF65-F5344CB8AC3E}">
        <p14:creationId xmlns:p14="http://schemas.microsoft.com/office/powerpoint/2010/main" val="577906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13F386-019F-43B4-8547-2F621D9FD0E1}"/>
              </a:ext>
            </a:extLst>
          </p:cNvPr>
          <p:cNvSpPr>
            <a:spLocks noGrp="1"/>
          </p:cNvSpPr>
          <p:nvPr>
            <p:ph type="title"/>
          </p:nvPr>
        </p:nvSpPr>
        <p:spPr>
          <a:xfrm>
            <a:off x="677335" y="1528804"/>
            <a:ext cx="8596668" cy="1603495"/>
          </a:xfrm>
        </p:spPr>
        <p:txBody>
          <a:bodyPr/>
          <a:lstStyle/>
          <a:p>
            <a:r>
              <a:rPr lang="pt-BR" dirty="0">
                <a:latin typeface="Arial Rounded MT Bold" panose="020F0704030504030204" pitchFamily="34" charset="0"/>
              </a:rPr>
              <a:t>E essa Lei foi focada apenas no problema?</a:t>
            </a:r>
          </a:p>
        </p:txBody>
      </p:sp>
      <p:sp>
        <p:nvSpPr>
          <p:cNvPr id="3" name="Espaço Reservado para Texto 2">
            <a:extLst>
              <a:ext uri="{FF2B5EF4-FFF2-40B4-BE49-F238E27FC236}">
                <a16:creationId xmlns:a16="http://schemas.microsoft.com/office/drawing/2014/main" id="{81CC8D64-2480-4ADB-949E-84133618AE74}"/>
              </a:ext>
            </a:extLst>
          </p:cNvPr>
          <p:cNvSpPr>
            <a:spLocks noGrp="1"/>
          </p:cNvSpPr>
          <p:nvPr>
            <p:ph type="body" idx="1"/>
          </p:nvPr>
        </p:nvSpPr>
        <p:spPr>
          <a:xfrm>
            <a:off x="677335" y="4261634"/>
            <a:ext cx="8596668" cy="1841454"/>
          </a:xfrm>
        </p:spPr>
        <p:txBody>
          <a:bodyPr>
            <a:normAutofit fontScale="92500" lnSpcReduction="20000"/>
          </a:bodyPr>
          <a:lstStyle/>
          <a:p>
            <a:r>
              <a:rPr lang="pt-BR" b="1" dirty="0"/>
              <a:t>EU acho que essa Lei atingiu locais que não precisava, na lei o termo “</a:t>
            </a:r>
            <a:r>
              <a:rPr lang="pt-BR" b="1" dirty="0" err="1"/>
              <a:t>lootbox</a:t>
            </a:r>
            <a:r>
              <a:rPr lang="pt-BR" b="1" dirty="0"/>
              <a:t>” foi associada com um cassino, pois você gasta dinheiro em algo que você não tem certeza que vai ganhar, na minha opinião o cassino para menores tem que ser proibido, mas um jogo de FADA ser para maiores de 18 por causa de uma caixa que se você pode ter a chance de ganhar algo legal ou um chaveiro não deveria ser considerado um cassino, mas agora não tem mais volta, mas em um país que com 14 você pode consentir sexualmente, com 16 você decide o destino do país, mas você precisa de 18 você pode jogar um joguinho que contém uma caixa </a:t>
            </a:r>
            <a:r>
              <a:rPr lang="pt-BR" b="1" dirty="0" err="1"/>
              <a:t>aleátoria</a:t>
            </a:r>
            <a:r>
              <a:rPr lang="pt-BR" b="1" dirty="0"/>
              <a:t>.</a:t>
            </a:r>
          </a:p>
        </p:txBody>
      </p:sp>
    </p:spTree>
    <p:extLst>
      <p:ext uri="{BB962C8B-B14F-4D97-AF65-F5344CB8AC3E}">
        <p14:creationId xmlns:p14="http://schemas.microsoft.com/office/powerpoint/2010/main" val="1096163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618A73EA-072E-42C8-BEFC-DE6194DDA5AC}"/>
              </a:ext>
            </a:extLst>
          </p:cNvPr>
          <p:cNvPicPr>
            <a:picLocks noChangeAspect="1"/>
          </p:cNvPicPr>
          <p:nvPr/>
        </p:nvPicPr>
        <p:blipFill>
          <a:blip r:embed="rId2"/>
          <a:stretch>
            <a:fillRect/>
          </a:stretch>
        </p:blipFill>
        <p:spPr>
          <a:xfrm>
            <a:off x="1754372" y="531936"/>
            <a:ext cx="8070112" cy="6166576"/>
          </a:xfrm>
          <a:prstGeom prst="rect">
            <a:avLst/>
          </a:prstGeom>
        </p:spPr>
      </p:pic>
    </p:spTree>
    <p:extLst>
      <p:ext uri="{BB962C8B-B14F-4D97-AF65-F5344CB8AC3E}">
        <p14:creationId xmlns:p14="http://schemas.microsoft.com/office/powerpoint/2010/main" val="1451002317"/>
      </p:ext>
    </p:extLst>
  </p:cSld>
  <p:clrMapOvr>
    <a:masterClrMapping/>
  </p:clrMapOvr>
</p:sld>
</file>

<file path=ppt/theme/theme1.xml><?xml version="1.0" encoding="utf-8"?>
<a:theme xmlns:a="http://schemas.openxmlformats.org/drawingml/2006/main" name="Facetado">
  <a:themeElements>
    <a:clrScheme name="Facetado">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do">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do">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47</TotalTime>
  <Words>281</Words>
  <Application>Microsoft Office PowerPoint</Application>
  <PresentationFormat>Widescreen</PresentationFormat>
  <Paragraphs>10</Paragraphs>
  <Slides>6</Slides>
  <Notes>0</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6</vt:i4>
      </vt:variant>
    </vt:vector>
  </HeadingPairs>
  <TitlesOfParts>
    <vt:vector size="14" baseType="lpstr">
      <vt:lpstr>Algerian</vt:lpstr>
      <vt:lpstr>Arial</vt:lpstr>
      <vt:lpstr>Arial Rounded MT Bold</vt:lpstr>
      <vt:lpstr>Artifakt Element Heavy</vt:lpstr>
      <vt:lpstr>Roboto</vt:lpstr>
      <vt:lpstr>Trebuchet MS</vt:lpstr>
      <vt:lpstr>Wingdings 3</vt:lpstr>
      <vt:lpstr>Facetado</vt:lpstr>
      <vt:lpstr>Trabalho de PTIC</vt:lpstr>
      <vt:lpstr>Estatuto da Criança e do Adolescente (ECA Digital)</vt:lpstr>
      <vt:lpstr>Também conhecida como Lei Felca</vt:lpstr>
      <vt:lpstr>Mas essa Lei ajudou realmente a população menor de 18 anos?</vt:lpstr>
      <vt:lpstr>E essa Lei foi focada apenas no problema?</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Trabalho de PTIC</dc:title>
  <dc:creator>Aluno</dc:creator>
  <cp:lastModifiedBy>Aluno</cp:lastModifiedBy>
  <cp:revision>1</cp:revision>
  <dcterms:created xsi:type="dcterms:W3CDTF">2026-03-26T15:38:56Z</dcterms:created>
  <dcterms:modified xsi:type="dcterms:W3CDTF">2026-03-26T16:26:34Z</dcterms:modified>
</cp:coreProperties>
</file>